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620798"/>
            <a:ext cx="5143500" cy="34479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5201683"/>
            <a:ext cx="5143500" cy="23910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2469023"/>
            <a:ext cx="5915025" cy="411962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6627618"/>
            <a:ext cx="5915025" cy="21664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8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71863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527275"/>
            <a:ext cx="5915025" cy="19142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1" y="2427758"/>
            <a:ext cx="2901255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1" y="3617565"/>
            <a:ext cx="2901255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427758"/>
            <a:ext cx="2915543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617565"/>
            <a:ext cx="2915543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756" y="527275"/>
            <a:ext cx="1478756" cy="839284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8" y="527275"/>
            <a:ext cx="4350544" cy="839284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275"/>
            <a:ext cx="5915025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375"/>
            <a:ext cx="5915025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79170"/>
            <a:ext cx="2314575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41170" y="318135"/>
            <a:ext cx="337629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>
                <a:solidFill>
                  <a:schemeClr val="tx1"/>
                </a:solidFill>
                <a:effectLst/>
              </a:rPr>
              <a:t>总线</a:t>
            </a:r>
            <a:r>
              <a:rPr lang="zh-CN" altLang="en-US" sz="2400">
                <a:solidFill>
                  <a:schemeClr val="tx1"/>
                </a:solidFill>
                <a:effectLst/>
              </a:rPr>
              <a:t>舵机</a:t>
            </a:r>
            <a:endParaRPr lang="zh-CN" altLang="en-US" sz="2400">
              <a:solidFill>
                <a:schemeClr val="tx1"/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6000" y="861060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快速上手指南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542925" y="1339215"/>
            <a:ext cx="3262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第一步：功能</a:t>
            </a:r>
            <a:r>
              <a:rPr lang="zh-CN" altLang="en-US" b="1"/>
              <a:t>测试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543560" y="4173220"/>
            <a:ext cx="5732780" cy="861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60000"/>
              </a:lnSpc>
            </a:pPr>
            <a:r>
              <a:rPr lang="en-US" altLang="zh-CN" sz="1000" spc="40">
                <a:solidFill>
                  <a:schemeClr val="tx1"/>
                </a:solidFill>
                <a:uFillTx/>
              </a:rPr>
              <a:t>2. </a:t>
            </a:r>
            <a:r>
              <a:rPr lang="zh-CN" altLang="en-US" sz="1000" spc="40">
                <a:solidFill>
                  <a:schemeClr val="tx1"/>
                </a:solidFill>
                <a:uFillTx/>
              </a:rPr>
              <a:t>在电脑上打开上位机软件</a:t>
            </a:r>
            <a:r>
              <a:rPr lang="en-US" altLang="zh-CN" sz="1000" spc="40">
                <a:solidFill>
                  <a:schemeClr val="tx1"/>
                </a:solidFill>
                <a:uFillTx/>
              </a:rPr>
              <a:t>zide</a:t>
            </a:r>
            <a:r>
              <a:rPr lang="zh-CN" altLang="en-US" sz="1000" spc="40">
                <a:solidFill>
                  <a:schemeClr val="tx1"/>
                </a:solidFill>
                <a:uFillTx/>
              </a:rPr>
              <a:t>（资料中获取）。</a:t>
            </a:r>
            <a:endParaRPr lang="zh-CN" altLang="en-US" sz="1000" spc="40">
              <a:solidFill>
                <a:schemeClr val="tx1"/>
              </a:solidFill>
              <a:uFillTx/>
            </a:endParaRPr>
          </a:p>
          <a:p>
            <a:pPr>
              <a:lnSpc>
                <a:spcPct val="160000"/>
              </a:lnSpc>
            </a:pPr>
            <a:r>
              <a:rPr lang="en-US" altLang="zh-CN" sz="1000" spc="40">
                <a:solidFill>
                  <a:schemeClr val="tx1"/>
                </a:solidFill>
                <a:uFillTx/>
              </a:rPr>
              <a:t>3. </a:t>
            </a:r>
            <a:r>
              <a:rPr lang="zh-CN" sz="1000" spc="40">
                <a:solidFill>
                  <a:schemeClr val="tx1"/>
                </a:solidFill>
                <a:uFillTx/>
              </a:rPr>
              <a:t>打开</a:t>
            </a:r>
            <a:r>
              <a:rPr lang="en-US" altLang="zh-CN" sz="1000" spc="40">
                <a:solidFill>
                  <a:schemeClr val="tx1"/>
                </a:solidFill>
                <a:uFillTx/>
              </a:rPr>
              <a:t>zide</a:t>
            </a:r>
            <a:r>
              <a:rPr lang="zh-CN" altLang="en-US" sz="1000" spc="40">
                <a:solidFill>
                  <a:schemeClr val="tx1"/>
                </a:solidFill>
                <a:uFillTx/>
              </a:rPr>
              <a:t>软件后，选好串口号（电脑需提前安装好</a:t>
            </a:r>
            <a:r>
              <a:rPr lang="en-US" altLang="zh-CN" sz="1000" spc="40">
                <a:solidFill>
                  <a:schemeClr val="tx1"/>
                </a:solidFill>
                <a:uFillTx/>
              </a:rPr>
              <a:t>CH340</a:t>
            </a:r>
            <a:r>
              <a:rPr lang="zh-CN" altLang="en-US" sz="1000" spc="40">
                <a:solidFill>
                  <a:schemeClr val="tx1"/>
                </a:solidFill>
                <a:uFillTx/>
              </a:rPr>
              <a:t>串口驱动程序，不清楚串口号是</a:t>
            </a:r>
            <a:r>
              <a:rPr lang="zh-CN" altLang="en-US" sz="1000" spc="40">
                <a:solidFill>
                  <a:schemeClr val="tx1"/>
                </a:solidFill>
                <a:uFillTx/>
              </a:rPr>
              <a:t>哪个的可以在电脑设备管理器的端口处查看），波特率默认的</a:t>
            </a:r>
            <a:r>
              <a:rPr lang="en-US" altLang="zh-CN" sz="1000" spc="40">
                <a:solidFill>
                  <a:schemeClr val="tx1"/>
                </a:solidFill>
                <a:uFillTx/>
              </a:rPr>
              <a:t>115200</a:t>
            </a:r>
            <a:r>
              <a:rPr lang="zh-CN" altLang="en-US" sz="1000" spc="40">
                <a:solidFill>
                  <a:schemeClr val="tx1"/>
                </a:solidFill>
                <a:uFillTx/>
              </a:rPr>
              <a:t>即可，然后点击</a:t>
            </a:r>
            <a:r>
              <a:rPr lang="en-US" altLang="zh-CN" sz="1000" spc="40">
                <a:solidFill>
                  <a:schemeClr val="tx1"/>
                </a:solidFill>
                <a:uFillTx/>
              </a:rPr>
              <a:t>‘</a:t>
            </a:r>
            <a:r>
              <a:rPr lang="zh-CN" altLang="en-US" sz="1000" spc="40">
                <a:solidFill>
                  <a:schemeClr val="tx1"/>
                </a:solidFill>
                <a:uFillTx/>
              </a:rPr>
              <a:t>连接设备</a:t>
            </a:r>
            <a:r>
              <a:rPr lang="en-US" altLang="zh-CN" sz="1000" spc="40">
                <a:solidFill>
                  <a:schemeClr val="tx1"/>
                </a:solidFill>
                <a:uFillTx/>
              </a:rPr>
              <a:t>’</a:t>
            </a:r>
            <a:r>
              <a:rPr lang="zh-CN" altLang="en-US" sz="1000" spc="40">
                <a:solidFill>
                  <a:schemeClr val="tx1"/>
                </a:solidFill>
                <a:uFillTx/>
              </a:rPr>
              <a:t>。</a:t>
            </a:r>
            <a:endParaRPr lang="zh-CN" altLang="en-US" sz="1000" spc="40">
              <a:solidFill>
                <a:schemeClr val="tx1"/>
              </a:solidFill>
              <a:uFillTx/>
            </a:endParaRPr>
          </a:p>
          <a:p>
            <a:pPr>
              <a:lnSpc>
                <a:spcPct val="160000"/>
              </a:lnSpc>
            </a:pPr>
            <a:r>
              <a:rPr lang="en-US" altLang="zh-CN" sz="1000" spc="40">
                <a:solidFill>
                  <a:schemeClr val="tx1"/>
                </a:solidFill>
                <a:uFillTx/>
              </a:rPr>
              <a:t>    </a:t>
            </a:r>
            <a:endParaRPr lang="zh-CN" altLang="en-US" sz="1000" spc="40">
              <a:solidFill>
                <a:schemeClr val="tx1"/>
              </a:solidFill>
              <a:uFillTx/>
            </a:endParaRPr>
          </a:p>
          <a:p>
            <a:pPr>
              <a:lnSpc>
                <a:spcPct val="140000"/>
              </a:lnSpc>
            </a:pPr>
            <a:endParaRPr lang="zh-CN" altLang="en-US" sz="1000" spc="40">
              <a:solidFill>
                <a:schemeClr val="tx1"/>
              </a:solidFill>
              <a:uFillTx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41655" y="1728470"/>
            <a:ext cx="3884295" cy="403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rgbClr val="C00000"/>
                </a:solidFill>
              </a:rPr>
              <a:t>此处以本店的</a:t>
            </a:r>
            <a:r>
              <a:rPr lang="en-US" altLang="zh-CN" sz="1200" b="1">
                <a:solidFill>
                  <a:srgbClr val="C00000"/>
                </a:solidFill>
              </a:rPr>
              <a:t>zlink</a:t>
            </a:r>
            <a:r>
              <a:rPr lang="zh-CN" altLang="en-US" sz="1200" b="1">
                <a:solidFill>
                  <a:srgbClr val="C00000"/>
                </a:solidFill>
              </a:rPr>
              <a:t>模块控制总线舵机为例。</a:t>
            </a:r>
            <a:endParaRPr lang="zh-CN" altLang="en-US" sz="1200" b="1">
              <a:solidFill>
                <a:srgbClr val="C0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43560" y="2086610"/>
            <a:ext cx="2748280" cy="2264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200000"/>
              </a:lnSpc>
            </a:pPr>
            <a:r>
              <a:rPr lang="en-US" altLang="zh-CN" sz="1000" b="1"/>
              <a:t>1. </a:t>
            </a:r>
            <a:r>
              <a:rPr lang="zh-CN" altLang="en-US" sz="1000" b="1"/>
              <a:t>接线</a:t>
            </a:r>
            <a:endParaRPr lang="zh-CN" altLang="en-US" sz="1000" b="1"/>
          </a:p>
          <a:p>
            <a:pPr>
              <a:lnSpc>
                <a:spcPct val="200000"/>
              </a:lnSpc>
            </a:pPr>
            <a:r>
              <a:rPr lang="zh-CN" altLang="en-US" sz="1000"/>
              <a:t>（</a:t>
            </a:r>
            <a:r>
              <a:rPr lang="en-US" altLang="zh-CN" sz="1000"/>
              <a:t>1</a:t>
            </a:r>
            <a:r>
              <a:rPr lang="zh-CN" altLang="en-US" sz="1000"/>
              <a:t>）</a:t>
            </a:r>
            <a:r>
              <a:rPr lang="en-US" altLang="zh-CN" sz="1000"/>
              <a:t>zlink</a:t>
            </a:r>
            <a:r>
              <a:rPr lang="zh-CN" altLang="en-US" sz="1000"/>
              <a:t>模块上的跳线帽调到</a:t>
            </a:r>
            <a:r>
              <a:rPr lang="en-US" altLang="zh-CN" sz="1000"/>
              <a:t>USB</a:t>
            </a:r>
            <a:r>
              <a:rPr lang="zh-CN" altLang="en-US" sz="1000"/>
              <a:t>和</a:t>
            </a:r>
            <a:r>
              <a:rPr lang="en-US" altLang="zh-CN" sz="1000"/>
              <a:t>ZX</a:t>
            </a:r>
            <a:r>
              <a:rPr lang="zh-CN" altLang="en-US" sz="1000"/>
              <a:t>处</a:t>
            </a:r>
            <a:endParaRPr lang="zh-CN" altLang="en-US" sz="1000"/>
          </a:p>
          <a:p>
            <a:pPr>
              <a:lnSpc>
                <a:spcPct val="200000"/>
              </a:lnSpc>
            </a:pPr>
            <a:r>
              <a:rPr lang="zh-CN" altLang="en-US" sz="1000"/>
              <a:t>（</a:t>
            </a:r>
            <a:r>
              <a:rPr lang="en-US" altLang="zh-CN" sz="1000"/>
              <a:t>2</a:t>
            </a:r>
            <a:r>
              <a:rPr lang="zh-CN" altLang="en-US" sz="1000"/>
              <a:t>）</a:t>
            </a:r>
            <a:r>
              <a:rPr lang="en-US" altLang="zh-CN" sz="1000"/>
              <a:t>zlink</a:t>
            </a:r>
            <a:r>
              <a:rPr lang="zh-CN" altLang="en-US" sz="1000"/>
              <a:t>模块用电源供电（</a:t>
            </a:r>
            <a:r>
              <a:rPr lang="en-US" altLang="zh-CN" sz="1000"/>
              <a:t>6-8.4V</a:t>
            </a:r>
            <a:r>
              <a:rPr lang="zh-CN" altLang="en-US" sz="1000"/>
              <a:t>之间）</a:t>
            </a:r>
            <a:endParaRPr lang="zh-CN" altLang="en-US" sz="1000"/>
          </a:p>
          <a:p>
            <a:pPr>
              <a:lnSpc>
                <a:spcPct val="200000"/>
              </a:lnSpc>
            </a:pPr>
            <a:r>
              <a:rPr lang="zh-CN" altLang="en-US" sz="1000"/>
              <a:t>（</a:t>
            </a:r>
            <a:r>
              <a:rPr lang="en-US" altLang="zh-CN" sz="1000"/>
              <a:t>3</a:t>
            </a:r>
            <a:r>
              <a:rPr lang="zh-CN" altLang="en-US" sz="1000"/>
              <a:t>）</a:t>
            </a:r>
            <a:r>
              <a:rPr lang="en-US" altLang="zh-CN" sz="1000"/>
              <a:t>zlink</a:t>
            </a:r>
            <a:r>
              <a:rPr lang="zh-CN" altLang="en-US" sz="1000"/>
              <a:t>模块使用一根数据线连接</a:t>
            </a:r>
            <a:r>
              <a:rPr lang="zh-CN" altLang="en-US" sz="1000"/>
              <a:t>电脑</a:t>
            </a:r>
            <a:endParaRPr lang="zh-CN" altLang="en-US" sz="1000"/>
          </a:p>
          <a:p>
            <a:pPr>
              <a:lnSpc>
                <a:spcPct val="200000"/>
              </a:lnSpc>
            </a:pPr>
            <a:r>
              <a:rPr lang="zh-CN" altLang="en-US" sz="1000"/>
              <a:t>（</a:t>
            </a:r>
            <a:r>
              <a:rPr lang="en-US" altLang="zh-CN" sz="1000"/>
              <a:t>4</a:t>
            </a:r>
            <a:r>
              <a:rPr lang="zh-CN" altLang="en-US" sz="1000"/>
              <a:t>）使用一根总线将总线舵机（接其中任一总线接口）接到</a:t>
            </a:r>
            <a:r>
              <a:rPr lang="en-US" altLang="zh-CN" sz="1000"/>
              <a:t>zlink</a:t>
            </a:r>
            <a:r>
              <a:rPr lang="zh-CN" altLang="en-US" sz="1000"/>
              <a:t>模块上任一总线</a:t>
            </a:r>
            <a:r>
              <a:rPr lang="zh-CN" altLang="en-US" sz="1000"/>
              <a:t>接口。</a:t>
            </a:r>
            <a:endParaRPr lang="zh-CN" altLang="en-US" sz="1000"/>
          </a:p>
        </p:txBody>
      </p:sp>
      <p:sp>
        <p:nvSpPr>
          <p:cNvPr id="24" name="文本框 23"/>
          <p:cNvSpPr txBox="1"/>
          <p:nvPr/>
        </p:nvSpPr>
        <p:spPr>
          <a:xfrm>
            <a:off x="541655" y="6304915"/>
            <a:ext cx="3981450" cy="1537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000" b="1"/>
              <a:t>4. </a:t>
            </a:r>
            <a:r>
              <a:rPr lang="zh-CN" altLang="en-US" sz="1000" b="1"/>
              <a:t>控制</a:t>
            </a:r>
            <a:endParaRPr lang="zh-CN" altLang="en-US" sz="1000" b="1"/>
          </a:p>
          <a:p>
            <a:pPr>
              <a:lnSpc>
                <a:spcPct val="150000"/>
              </a:lnSpc>
            </a:pPr>
            <a:r>
              <a:rPr lang="zh-CN" altLang="en-US" sz="1000" spc="50">
                <a:solidFill>
                  <a:schemeClr val="tx1"/>
                </a:solidFill>
                <a:uFillTx/>
              </a:rPr>
              <a:t> </a:t>
            </a:r>
            <a:r>
              <a:rPr lang="en-US" altLang="zh-CN" sz="1000" spc="50">
                <a:solidFill>
                  <a:schemeClr val="tx1"/>
                </a:solidFill>
                <a:uFillTx/>
              </a:rPr>
              <a:t>   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比如连接的这个总线舵机的</a:t>
            </a:r>
            <a:r>
              <a:rPr lang="en-US" altLang="zh-CN" sz="1000" spc="50">
                <a:solidFill>
                  <a:schemeClr val="tx1"/>
                </a:solidFill>
                <a:uFillTx/>
              </a:rPr>
              <a:t>ID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已改为</a:t>
            </a:r>
            <a:r>
              <a:rPr lang="en-US" altLang="zh-CN" sz="1000" spc="50">
                <a:solidFill>
                  <a:schemeClr val="tx1"/>
                </a:solidFill>
                <a:uFillTx/>
              </a:rPr>
              <a:t>000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，则可以通过</a:t>
            </a:r>
            <a:r>
              <a:rPr lang="en-US" altLang="zh-CN" sz="1000" spc="50">
                <a:solidFill>
                  <a:schemeClr val="tx1"/>
                </a:solidFill>
                <a:uFillTx/>
              </a:rPr>
              <a:t>ID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为</a:t>
            </a:r>
            <a:r>
              <a:rPr lang="en-US" altLang="zh-CN" sz="1000" spc="50">
                <a:solidFill>
                  <a:schemeClr val="tx1"/>
                </a:solidFill>
                <a:uFillTx/>
              </a:rPr>
              <a:t>000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的滑块来控制舵机转动。</a:t>
            </a:r>
            <a:endParaRPr lang="zh-CN" altLang="en-US" sz="1000" spc="50">
              <a:solidFill>
                <a:schemeClr val="tx1"/>
              </a:solidFill>
              <a:uFillTx/>
            </a:endParaRPr>
          </a:p>
          <a:p>
            <a:pPr>
              <a:lnSpc>
                <a:spcPct val="150000"/>
              </a:lnSpc>
            </a:pPr>
            <a:r>
              <a:rPr lang="en-US" altLang="zh-CN" sz="1000" spc="50">
                <a:solidFill>
                  <a:schemeClr val="tx1"/>
                </a:solidFill>
                <a:uFillTx/>
              </a:rPr>
              <a:t>    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其中，</a:t>
            </a:r>
            <a:r>
              <a:rPr lang="en-US" altLang="zh-CN" sz="1000" spc="50">
                <a:solidFill>
                  <a:schemeClr val="tx1"/>
                </a:solidFill>
                <a:uFillTx/>
              </a:rPr>
              <a:t>PWM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值范围为</a:t>
            </a:r>
            <a:r>
              <a:rPr lang="en-US" altLang="zh-CN" sz="1000" spc="50">
                <a:solidFill>
                  <a:schemeClr val="tx1"/>
                </a:solidFill>
                <a:uFillTx/>
              </a:rPr>
              <a:t>0500-2500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，</a:t>
            </a:r>
            <a:r>
              <a:rPr lang="en-US" altLang="zh-CN" sz="1000" spc="50">
                <a:solidFill>
                  <a:schemeClr val="tx1"/>
                </a:solidFill>
                <a:uFillTx/>
              </a:rPr>
              <a:t>1500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为复位（即中位），</a:t>
            </a:r>
            <a:r>
              <a:rPr lang="en-US" altLang="zh-CN" sz="1000" spc="50">
                <a:solidFill>
                  <a:schemeClr val="tx1"/>
                </a:solidFill>
                <a:uFillTx/>
              </a:rPr>
              <a:t>Time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为运行时间。</a:t>
            </a:r>
            <a:endParaRPr lang="zh-CN" altLang="en-US" sz="1000" spc="50">
              <a:solidFill>
                <a:schemeClr val="tx1"/>
              </a:solidFill>
              <a:uFillTx/>
            </a:endParaRPr>
          </a:p>
          <a:p>
            <a:pPr>
              <a:lnSpc>
                <a:spcPct val="150000"/>
              </a:lnSpc>
            </a:pPr>
            <a:r>
              <a:rPr lang="en-US" altLang="zh-CN" sz="1000" spc="50">
                <a:solidFill>
                  <a:schemeClr val="tx1"/>
                </a:solidFill>
                <a:uFillTx/>
              </a:rPr>
              <a:t>    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注：总线舵机</a:t>
            </a:r>
            <a:r>
              <a:rPr lang="en-US" altLang="zh-CN" sz="1000" spc="50">
                <a:solidFill>
                  <a:schemeClr val="tx1"/>
                </a:solidFill>
                <a:uFillTx/>
              </a:rPr>
              <a:t>ID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号的修改请查看资料中的【修改设备</a:t>
            </a:r>
            <a:r>
              <a:rPr lang="en-US" altLang="zh-CN" sz="1000" spc="50">
                <a:solidFill>
                  <a:schemeClr val="tx1"/>
                </a:solidFill>
                <a:uFillTx/>
              </a:rPr>
              <a:t>ID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】</a:t>
            </a:r>
            <a:r>
              <a:rPr lang="zh-CN" altLang="en-US" sz="1000" spc="50">
                <a:solidFill>
                  <a:schemeClr val="tx1"/>
                </a:solidFill>
                <a:uFillTx/>
              </a:rPr>
              <a:t>一课。</a:t>
            </a:r>
            <a:endParaRPr lang="zh-CN" altLang="en-US" sz="1000" spc="50">
              <a:solidFill>
                <a:schemeClr val="tx1"/>
              </a:solidFill>
              <a:uFillTx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5950" y="6375400"/>
            <a:ext cx="1769110" cy="1397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76228"/>
          <a:stretch>
            <a:fillRect/>
          </a:stretch>
        </p:blipFill>
        <p:spPr>
          <a:xfrm>
            <a:off x="5301615" y="1112520"/>
            <a:ext cx="974090" cy="2889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b="6329"/>
          <a:stretch>
            <a:fillRect/>
          </a:stretch>
        </p:blipFill>
        <p:spPr>
          <a:xfrm>
            <a:off x="3584575" y="2074545"/>
            <a:ext cx="2446020" cy="20300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55" y="5034280"/>
            <a:ext cx="5411470" cy="12020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41020" y="8169275"/>
            <a:ext cx="5780405" cy="160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000">
                <a:sym typeface="+mn-ea"/>
              </a:rPr>
              <a:t> </a:t>
            </a:r>
            <a:r>
              <a:rPr lang="en-US" altLang="zh-CN" sz="1000">
                <a:sym typeface="+mn-ea"/>
              </a:rPr>
              <a:t>       </a:t>
            </a:r>
            <a:r>
              <a:rPr lang="zh-CN" altLang="en-US" sz="1000">
                <a:sym typeface="+mn-ea"/>
              </a:rPr>
              <a:t>控制设备时注意供电要满足设备所需供电范围。</a:t>
            </a:r>
            <a:endParaRPr lang="zh-CN" altLang="en-US" sz="10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000">
                <a:sym typeface="+mn-ea"/>
              </a:rPr>
              <a:t> </a:t>
            </a:r>
            <a:r>
              <a:rPr lang="en-US" altLang="zh-CN" sz="1000">
                <a:sym typeface="+mn-ea"/>
              </a:rPr>
              <a:t>       </a:t>
            </a:r>
            <a:r>
              <a:rPr lang="zh-CN" altLang="en-US" sz="1000" spc="40">
                <a:uFillTx/>
                <a:sym typeface="+mn-ea"/>
              </a:rPr>
              <a:t>如果上位机软件</a:t>
            </a:r>
            <a:r>
              <a:rPr lang="en-US" altLang="zh-CN" sz="1000" spc="40">
                <a:uFillTx/>
                <a:sym typeface="+mn-ea"/>
              </a:rPr>
              <a:t>zide</a:t>
            </a:r>
            <a:r>
              <a:rPr lang="zh-CN" altLang="en-US" sz="1000" spc="40">
                <a:uFillTx/>
                <a:sym typeface="+mn-ea"/>
              </a:rPr>
              <a:t>闪退，可以将</a:t>
            </a:r>
            <a:r>
              <a:rPr lang="en-US" altLang="zh-CN" sz="1000" spc="40">
                <a:uFillTx/>
                <a:sym typeface="+mn-ea"/>
              </a:rPr>
              <a:t>zide</a:t>
            </a:r>
            <a:r>
              <a:rPr lang="zh-CN" altLang="en-US" sz="1000" spc="40">
                <a:uFillTx/>
                <a:sym typeface="+mn-ea"/>
              </a:rPr>
              <a:t>同级目录下的</a:t>
            </a:r>
            <a:r>
              <a:rPr lang="en-US" altLang="zh-CN" sz="1000" spc="40">
                <a:uFillTx/>
                <a:sym typeface="+mn-ea"/>
              </a:rPr>
              <a:t>config.ini</a:t>
            </a:r>
            <a:r>
              <a:rPr lang="zh-CN" altLang="en-US" sz="1000" spc="40">
                <a:uFillTx/>
                <a:sym typeface="+mn-ea"/>
              </a:rPr>
              <a:t>删掉，再重新打开</a:t>
            </a:r>
            <a:r>
              <a:rPr lang="en-US" altLang="zh-CN" sz="1000" spc="40">
                <a:uFillTx/>
                <a:sym typeface="+mn-ea"/>
              </a:rPr>
              <a:t>zide</a:t>
            </a:r>
            <a:r>
              <a:rPr lang="zh-CN" altLang="en-US" sz="1000" spc="40">
                <a:uFillTx/>
                <a:sym typeface="+mn-ea"/>
              </a:rPr>
              <a:t>即可。</a:t>
            </a:r>
            <a:endParaRPr lang="zh-CN" altLang="en-US" sz="1000" spc="40">
              <a:uFillTx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>
                <a:sym typeface="+mn-ea"/>
              </a:rPr>
              <a:t>        </a:t>
            </a:r>
            <a:r>
              <a:rPr lang="zh-CN" altLang="en-US" sz="1000">
                <a:sym typeface="+mn-ea"/>
              </a:rPr>
              <a:t>产品拿到手先试一下上电是否正常（总线舵机上电后蓝灯慢闪为正常），保证硬件到手是完好的再继续使用，如有问题，请立即联系客服处理。</a:t>
            </a:r>
            <a:endParaRPr lang="zh-CN" altLang="en-US" sz="10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000">
                <a:sym typeface="+mn-ea"/>
              </a:rPr>
              <a:t> </a:t>
            </a:r>
            <a:r>
              <a:rPr lang="en-US" altLang="zh-CN" sz="1000">
                <a:sym typeface="+mn-ea"/>
              </a:rPr>
              <a:t>       </a:t>
            </a:r>
            <a:r>
              <a:rPr lang="zh-CN" altLang="en-US" sz="1000">
                <a:sym typeface="+mn-ea"/>
              </a:rPr>
              <a:t>如果没有</a:t>
            </a:r>
            <a:r>
              <a:rPr lang="en-US" altLang="zh-CN" sz="1000">
                <a:sym typeface="+mn-ea"/>
              </a:rPr>
              <a:t>zlink</a:t>
            </a:r>
            <a:r>
              <a:rPr lang="zh-CN" altLang="en-US" sz="1000">
                <a:sym typeface="+mn-ea"/>
              </a:rPr>
              <a:t>模块，可以使用其他的</a:t>
            </a:r>
            <a:r>
              <a:rPr lang="en-US" altLang="zh-CN" sz="1000">
                <a:sym typeface="+mn-ea"/>
              </a:rPr>
              <a:t>USB</a:t>
            </a:r>
            <a:r>
              <a:rPr lang="zh-CN" altLang="en-US" sz="1000">
                <a:sym typeface="+mn-ea"/>
              </a:rPr>
              <a:t>转</a:t>
            </a:r>
            <a:r>
              <a:rPr lang="en-US" altLang="zh-CN" sz="1000">
                <a:sym typeface="+mn-ea"/>
              </a:rPr>
              <a:t>TTL</a:t>
            </a:r>
            <a:r>
              <a:rPr lang="zh-CN" altLang="en-US" sz="1000">
                <a:sym typeface="+mn-ea"/>
              </a:rPr>
              <a:t>的设备，通过发送串口指令来控制总线舵机，串口指令可在文档教程中查看。</a:t>
            </a:r>
            <a:endParaRPr lang="zh-CN" altLang="en-US" sz="1000">
              <a:sym typeface="+mn-ea"/>
            </a:endParaRPr>
          </a:p>
          <a:p>
            <a:pPr>
              <a:lnSpc>
                <a:spcPct val="140000"/>
              </a:lnSpc>
            </a:pPr>
            <a:endParaRPr lang="zh-CN" altLang="en-US" sz="1000"/>
          </a:p>
        </p:txBody>
      </p:sp>
      <p:sp>
        <p:nvSpPr>
          <p:cNvPr id="11" name="文本框 10"/>
          <p:cNvSpPr txBox="1"/>
          <p:nvPr/>
        </p:nvSpPr>
        <p:spPr>
          <a:xfrm>
            <a:off x="541655" y="7846695"/>
            <a:ext cx="288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注意事项</a:t>
            </a:r>
            <a:endParaRPr lang="zh-CN" alt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</Words>
  <Application>WPS 演示</Application>
  <PresentationFormat>宽屏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JiangLiu</dc:creator>
  <cp:lastModifiedBy>lbzbky</cp:lastModifiedBy>
  <cp:revision>35</cp:revision>
  <dcterms:created xsi:type="dcterms:W3CDTF">2023-08-09T12:44:00Z</dcterms:created>
  <dcterms:modified xsi:type="dcterms:W3CDTF">2025-05-27T07:35:38Z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2052-12.1.0.21171</vt:lpwstr>
  </property>
</Properties>
</file>